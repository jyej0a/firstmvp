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</p:sldIdLst>
  <p:sldSz cx="24384000" cy="13716000"/>
  <p:notesSz cx="6858000" cy="9144000"/>
  <p:embeddedFontLs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08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B8AA-0620-492C-A1EB-A2A3698B6EEC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BFF6E-B4C6-4F8B-935A-B94050724F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042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6BFF6E-B4C6-4F8B-935A-B94050724F4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438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C3A3CB65-6D59-1DD3-B21E-44EC9C14EC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45500" y="228600"/>
            <a:ext cx="2997200" cy="431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5439800B-6FC5-84F5-F533-BDC33A4D4D1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80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0BC6AAE1-6480-DCFE-8F3D-080C4739D8F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234950" y="-19278600"/>
            <a:ext cx="24599900" cy="295910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B3BF61AC-65E3-BC98-5FFB-ECFCE59F807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706100" y="3429000"/>
            <a:ext cx="20815300" cy="20815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맑은 고딕" panose="020B0503020000020004" pitchFamily="50" charset="-12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hJKzqVbwXo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46100" y="1028700"/>
            <a:ext cx="101219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ctr">
              <a:lnSpc>
                <a:spcPct val="99600"/>
              </a:lnSpc>
            </a:pPr>
            <a:r>
              <a:rPr lang="en-US" sz="80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PPT </a:t>
            </a:r>
            <a:r>
              <a:rPr lang="ko-KR" sz="80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sz="80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80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가이드</a:t>
            </a:r>
            <a:r>
              <a:rPr lang="en-US" sz="80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80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0900" y="3149600"/>
            <a:ext cx="12179300" cy="23876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l">
              <a:lnSpc>
                <a:spcPct val="99600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(PPT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경로에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등록된</a:t>
            </a:r>
          </a:p>
          <a:p>
            <a:pPr lvl="0" algn="l">
              <a:lnSpc>
                <a:spcPct val="99600"/>
              </a:lnSpc>
            </a:pP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[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작성가이드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2.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보고서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]</a:t>
            </a:r>
          </a:p>
          <a:p>
            <a:pPr lvl="0" algn="l">
              <a:lnSpc>
                <a:spcPct val="99600"/>
              </a:lnSpc>
            </a:pP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영상을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참고하여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ko-KR" alt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해주세요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96600" y="12623800"/>
            <a:ext cx="13385800" cy="8509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r">
              <a:lnSpc>
                <a:spcPct val="99600"/>
              </a:lnSpc>
            </a:pP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페이지는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제출해주세요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8" name="TextBox 8">
            <a:hlinkClick r:id="rId2" tooltip="https://www.youtube.com/watch?v=NhJKzqVbwXo"/>
          </p:cNvPr>
          <p:cNvSpPr txBox="1"/>
          <p:nvPr/>
        </p:nvSpPr>
        <p:spPr>
          <a:xfrm>
            <a:off x="889000" y="6578600"/>
            <a:ext cx="7874000" cy="7493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</a:rPr>
              <a:t>PPT </a:t>
            </a:r>
            <a:r>
              <a:rPr lang="ko-KR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r>
              <a:rPr lang="en-US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</a:rPr>
              <a:t> </a:t>
            </a:r>
            <a:r>
              <a:rPr lang="ko-KR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가이드</a:t>
            </a:r>
            <a:r>
              <a:rPr lang="en-US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</a:rPr>
              <a:t> </a:t>
            </a:r>
            <a:r>
              <a:rPr lang="ko-KR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영상으로</a:t>
            </a:r>
            <a:r>
              <a:rPr lang="en-US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</a:rPr>
              <a:t> </a:t>
            </a:r>
            <a:r>
              <a:rPr lang="ko-KR" sz="4208" b="0" i="0" u="sng" strike="noStrike" dirty="0">
                <a:solidFill>
                  <a:srgbClr val="2E3D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99FEB-8787-B2CC-2746-DF396AF9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0DB9927-61DB-745E-CB8A-0E196FC36FC6}"/>
              </a:ext>
            </a:extLst>
          </p:cNvPr>
          <p:cNvSpPr txBox="1"/>
          <p:nvPr/>
        </p:nvSpPr>
        <p:spPr>
          <a:xfrm>
            <a:off x="546100" y="1028700"/>
            <a:ext cx="47117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80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요령</a:t>
            </a:r>
            <a:endParaRPr lang="ko-KR" sz="8000" b="1" i="0" u="none" strike="noStrik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28F6C1D-FA6A-9E2E-3C5D-699B68B22E9C}"/>
              </a:ext>
            </a:extLst>
          </p:cNvPr>
          <p:cNvSpPr txBox="1"/>
          <p:nvPr/>
        </p:nvSpPr>
        <p:spPr>
          <a:xfrm>
            <a:off x="12192000" y="12623800"/>
            <a:ext cx="12090400" cy="850900"/>
          </a:xfrm>
          <a:prstGeom prst="rect">
            <a:avLst/>
          </a:prstGeom>
        </p:spPr>
        <p:txBody>
          <a:bodyPr lIns="0" tIns="60960" rIns="0" bIns="60960" rtlCol="0" anchor="ctr"/>
          <a:lstStyle/>
          <a:p>
            <a:pPr lvl="0" algn="r">
              <a:lnSpc>
                <a:spcPct val="99600"/>
              </a:lnSpc>
            </a:pP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본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페이지는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제출해주세요</a:t>
            </a:r>
            <a:r>
              <a:rPr lang="en-US" sz="4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CBA041A7-EF08-DE18-B37A-0226B405B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3371850"/>
            <a:ext cx="2854325" cy="9339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16276D0-BB32-E5B5-C280-AF5727343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5226530"/>
            <a:ext cx="2854325" cy="933930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A5F6E538-4267-FDAD-AB4F-EA0309FD6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7081210"/>
            <a:ext cx="2854325" cy="933930"/>
          </a:xfrm>
          <a:prstGeom prst="rect">
            <a:avLst/>
          </a:prstGeom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67AF3EF8-0888-B501-7E40-9CEF3722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9" y="8935890"/>
            <a:ext cx="2854325" cy="933930"/>
          </a:xfrm>
          <a:prstGeom prst="rect">
            <a:avLst/>
          </a:prstGeom>
        </p:spPr>
      </p:pic>
      <p:pic>
        <p:nvPicPr>
          <p:cNvPr id="14" name="Picture 9">
            <a:extLst>
              <a:ext uri="{FF2B5EF4-FFF2-40B4-BE49-F238E27FC236}">
                <a16:creationId xmlns:a16="http://schemas.microsoft.com/office/drawing/2014/main" id="{4662B4C3-28EE-C358-BC27-F1858FD66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9" y="10744200"/>
            <a:ext cx="2854325" cy="9339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304978-D1C1-E9E8-0CFC-E48A48513A6B}"/>
              </a:ext>
            </a:extLst>
          </p:cNvPr>
          <p:cNvSpPr txBox="1"/>
          <p:nvPr/>
        </p:nvSpPr>
        <p:spPr>
          <a:xfrm>
            <a:off x="769926" y="3538626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1.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제출 형태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7BF93-75E3-8918-3465-A987AFA45EB3}"/>
              </a:ext>
            </a:extLst>
          </p:cNvPr>
          <p:cNvSpPr txBox="1"/>
          <p:nvPr/>
        </p:nvSpPr>
        <p:spPr>
          <a:xfrm>
            <a:off x="769926" y="5388324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2.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작성 주체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E33A07-A9AE-D593-91E2-84E654BB15BA}"/>
              </a:ext>
            </a:extLst>
          </p:cNvPr>
          <p:cNvSpPr txBox="1"/>
          <p:nvPr/>
        </p:nvSpPr>
        <p:spPr>
          <a:xfrm>
            <a:off x="719126" y="7243004"/>
            <a:ext cx="2452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3.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파  일  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0AB91-A673-D274-894A-DC27B48CDAE9}"/>
              </a:ext>
            </a:extLst>
          </p:cNvPr>
          <p:cNvSpPr txBox="1"/>
          <p:nvPr/>
        </p:nvSpPr>
        <p:spPr>
          <a:xfrm>
            <a:off x="719126" y="9097684"/>
            <a:ext cx="24304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4.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구성 내용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678D76-ABC1-C2A0-258D-426A347531D4}"/>
              </a:ext>
            </a:extLst>
          </p:cNvPr>
          <p:cNvSpPr txBox="1"/>
          <p:nvPr/>
        </p:nvSpPr>
        <p:spPr>
          <a:xfrm>
            <a:off x="719126" y="10921425"/>
            <a:ext cx="2452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5.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디  자  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234BA3-B551-3B1B-3E40-94B84F9DB229}"/>
              </a:ext>
            </a:extLst>
          </p:cNvPr>
          <p:cNvSpPr txBox="1"/>
          <p:nvPr/>
        </p:nvSpPr>
        <p:spPr>
          <a:xfrm>
            <a:off x="4022725" y="3371850"/>
            <a:ext cx="1311448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-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팀별 프로젝트 결과보고서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(PPT)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는 팀별로 각각 작성하여 제출해야 함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  <a:cs typeface="Pretendard Medium" panose="02000603000000020004" pitchFamily="2" charset="-127"/>
            </a:endParaRPr>
          </a:p>
          <a:p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단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개별 진행된 경우 개별로 작성하여 제출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05A63D-BD15-AF8C-F4FA-7EED0F9EA17D}"/>
              </a:ext>
            </a:extLst>
          </p:cNvPr>
          <p:cNvSpPr txBox="1"/>
          <p:nvPr/>
        </p:nvSpPr>
        <p:spPr>
          <a:xfrm>
            <a:off x="4022725" y="5369818"/>
            <a:ext cx="15571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-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훈련생이 직접 작성하고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훈련기관 담당자가 임의로 삭제 혹은 수정하지 않아야 함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B8903D-1995-C694-342D-4C4E18483AA1}"/>
              </a:ext>
            </a:extLst>
          </p:cNvPr>
          <p:cNvSpPr txBox="1"/>
          <p:nvPr/>
        </p:nvSpPr>
        <p:spPr>
          <a:xfrm>
            <a:off x="4041775" y="9125814"/>
            <a:ext cx="189125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-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제공된 목차 항목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/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구성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/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세부내용이 모두 포함되어야 하며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페이지별 상세 안내 내용을 참고하여 작성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978BE8-B17E-CB7C-97B0-DFC757992C08}"/>
              </a:ext>
            </a:extLst>
          </p:cNvPr>
          <p:cNvSpPr txBox="1"/>
          <p:nvPr/>
        </p:nvSpPr>
        <p:spPr>
          <a:xfrm>
            <a:off x="4041775" y="7070838"/>
            <a:ext cx="80874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-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결과보고서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_</a:t>
            </a:r>
            <a:r>
              <a:rPr lang="ko-KR" altLang="en-US" sz="3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팀명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(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팀 </a:t>
            </a:r>
            <a:r>
              <a:rPr lang="ko-KR" altLang="en-US" sz="3200" dirty="0" err="1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주제명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)</a:t>
            </a:r>
          </a:p>
          <a:p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예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)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결과보고서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_1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팀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(OOO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을 활용한 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OOOO)</a:t>
            </a:r>
            <a:endParaRPr lang="ko-KR" altLang="en-US" sz="3200" dirty="0">
              <a:latin typeface="맑은 고딕" panose="020B0503020000020004" pitchFamily="50" charset="-127"/>
              <a:ea typeface="맑은 고딕" panose="020B0503020000020004" pitchFamily="50" charset="-127"/>
              <a:cs typeface="Pretendard Medium" panose="020006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BA8F19-A440-C906-75BD-01C62CE0D3AF}"/>
              </a:ext>
            </a:extLst>
          </p:cNvPr>
          <p:cNvSpPr txBox="1"/>
          <p:nvPr/>
        </p:nvSpPr>
        <p:spPr>
          <a:xfrm>
            <a:off x="4003675" y="10640349"/>
            <a:ext cx="187522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-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참고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(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예시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)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디자인이므로 자유롭게 변경 가능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,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기본폰트를 사용하지 않은 경우 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PDF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로 저장하여 제출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  <a:cs typeface="Pretendard Medium" panose="02000603000000020004" pitchFamily="2" charset="-127"/>
            </a:endParaRPr>
          </a:p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-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프로젝트 결과물의 우수성 및 완성도를 잘 나타낼 수 있는 형태로 작성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  <a:cs typeface="Pretendard Medium" panose="02000603000000020004" pitchFamily="2" charset="-127"/>
            </a:endParaRPr>
          </a:p>
          <a:p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-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저작권 문제로 </a:t>
            </a:r>
            <a:r>
              <a:rPr lang="ko-KR" altLang="en-US" sz="32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2" charset="-127"/>
              </a:rPr>
              <a:t>유료 폰트는 사용 금지</a:t>
            </a:r>
          </a:p>
        </p:txBody>
      </p:sp>
    </p:spTree>
    <p:extLst>
      <p:ext uri="{BB962C8B-B14F-4D97-AF65-F5344CB8AC3E}">
        <p14:creationId xmlns:p14="http://schemas.microsoft.com/office/powerpoint/2010/main" val="45340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5308600" y="5156200"/>
            <a:ext cx="13754100" cy="2946400"/>
          </a:xfrm>
          <a:prstGeom prst="rect">
            <a:avLst/>
          </a:prstGeom>
        </p:spPr>
        <p:txBody>
          <a:bodyPr lIns="0" tIns="125307" rIns="0" bIns="101600" rtlCol="0" anchor="ctr"/>
          <a:lstStyle/>
          <a:p>
            <a:pPr lvl="0" algn="ctr">
              <a:lnSpc>
                <a:spcPct val="99600"/>
              </a:lnSpc>
            </a:pPr>
            <a:r>
              <a:rPr lang="en" sz="9866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프로젝트명</a:t>
            </a:r>
          </a:p>
          <a:p>
            <a:pPr lvl="0" algn="ctr">
              <a:lnSpc>
                <a:spcPct val="99600"/>
              </a:lnSpc>
            </a:pPr>
            <a:r>
              <a:rPr lang="en-US" sz="8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8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</a:t>
            </a:r>
            <a:r>
              <a:rPr lang="en-US" sz="8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13500" y="4648200"/>
            <a:ext cx="11569700" cy="5715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-US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</a:rPr>
              <a:t>AI</a:t>
            </a:r>
            <a:r>
              <a:rPr lang="ko-KR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리더</a:t>
            </a:r>
            <a:r>
              <a:rPr lang="en-US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</a:rPr>
              <a:t> 1</a:t>
            </a:r>
            <a:r>
              <a:rPr lang="ko-KR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</a:t>
            </a:r>
            <a:r>
              <a:rPr lang="en-US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spc="64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결과보고서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75600" y="8204200"/>
            <a:ext cx="8420100" cy="11176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ctr">
              <a:lnSpc>
                <a:spcPct val="99600"/>
              </a:lnSpc>
            </a:pPr>
            <a:r>
              <a:rPr lang="en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팀명</a:t>
            </a:r>
          </a:p>
          <a:p>
            <a:pPr lvl="0" algn="ctr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OO,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OO,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OO,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988800"/>
            <a:ext cx="2476500" cy="736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11925300"/>
            <a:ext cx="27559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4700" y="12115800"/>
            <a:ext cx="38862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0" y="5016500"/>
            <a:ext cx="88011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0" y="9232900"/>
            <a:ext cx="8801100" cy="25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785100" y="3898900"/>
            <a:ext cx="4940300" cy="8636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01.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85100" y="5346700"/>
            <a:ext cx="72263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02.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5100" y="6756400"/>
            <a:ext cx="80645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03.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85100" y="8153400"/>
            <a:ext cx="69215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04.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85100" y="9563100"/>
            <a:ext cx="5092700" cy="7620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l">
              <a:lnSpc>
                <a:spcPct val="99600"/>
              </a:lnSpc>
            </a:pP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05.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0" y="4013200"/>
            <a:ext cx="2781300" cy="3175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r">
              <a:lnSpc>
                <a:spcPct val="99600"/>
              </a:lnSpc>
            </a:pPr>
            <a:r>
              <a:rPr lang="en" sz="1600" b="0" i="0" u="none" strike="noStrike" spc="80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OUTLINE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16000" y="5422900"/>
            <a:ext cx="2781300" cy="3175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r">
              <a:lnSpc>
                <a:spcPct val="99600"/>
              </a:lnSpc>
            </a:pPr>
            <a:r>
              <a:rPr lang="en" sz="1600" b="0" i="0" u="none" strike="noStrike" spc="80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TEAM &amp; ROLE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6000" y="6832600"/>
            <a:ext cx="2794000" cy="3175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r">
              <a:lnSpc>
                <a:spcPct val="99600"/>
              </a:lnSpc>
            </a:pPr>
            <a:r>
              <a:rPr lang="en" sz="1600" b="0" i="0" u="none" strike="noStrike" spc="80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PROCEDURE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0" y="8267700"/>
            <a:ext cx="27813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r">
              <a:lnSpc>
                <a:spcPct val="99600"/>
              </a:lnSpc>
            </a:pPr>
            <a:r>
              <a:rPr lang="en" altLang="ko-KR" sz="1600" spc="80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PROCEDURE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0" y="9677400"/>
            <a:ext cx="27940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r">
              <a:lnSpc>
                <a:spcPct val="99600"/>
              </a:lnSpc>
            </a:pPr>
            <a:r>
              <a:rPr lang="en" sz="1600" b="0" i="0" u="none" strike="noStrike" spc="80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ASSESSMENT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1CDD770-3346-5369-D3C1-2617EEC71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0" y="6362700"/>
            <a:ext cx="8801100" cy="25400"/>
          </a:xfrm>
          <a:prstGeom prst="rect">
            <a:avLst/>
          </a:prstGeom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9909804B-7967-05DD-2804-BA5B3FEA7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0" y="7890329"/>
            <a:ext cx="88011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2006600"/>
            <a:ext cx="21996400" cy="10198100"/>
          </a:xfrm>
          <a:prstGeom prst="rect">
            <a:avLst/>
          </a:prstGeom>
          <a:effectLst>
            <a:outerShdw blurRad="1936788" dir="2700000">
              <a:srgbClr val="FECCBE">
                <a:alpha val="33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00" y="5384800"/>
            <a:ext cx="203200" cy="203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5359400"/>
            <a:ext cx="203200" cy="20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9300" y="5346700"/>
            <a:ext cx="203200" cy="203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57600" y="5334000"/>
            <a:ext cx="203200" cy="2032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195550" y="5797550"/>
            <a:ext cx="2527300" cy="4953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799" b="1" i="0" u="none" strike="noStrike" dirty="0">
                <a:solidFill>
                  <a:srgbClr val="EEA38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799" b="1" i="0" u="none" strike="noStrike" dirty="0">
                <a:solidFill>
                  <a:srgbClr val="EEA38E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EEA38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6300" y="749300"/>
            <a:ext cx="42672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01.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78600" y="2895600"/>
            <a:ext cx="114046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내용이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반드시</a:t>
            </a:r>
            <a:r>
              <a:rPr lang="en-US" sz="427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되도록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작성해주세요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76400" y="7505700"/>
            <a:ext cx="4076700" cy="13589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특화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포인트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</a:p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서비스와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차별화된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22450" y="5829300"/>
            <a:ext cx="3594100" cy="9779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</a:t>
            </a:r>
            <a:r>
              <a:rPr lang="en-US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</a:rPr>
              <a:t> </a:t>
            </a:r>
          </a:p>
          <a:p>
            <a:pPr lvl="0" algn="ctr">
              <a:lnSpc>
                <a:spcPct val="116199"/>
              </a:lnSpc>
            </a:pPr>
            <a:r>
              <a:rPr lang="ko-KR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선정</a:t>
            </a:r>
            <a:r>
              <a:rPr lang="en-US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배경</a:t>
            </a:r>
            <a:r>
              <a:rPr lang="en-US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</a:rPr>
              <a:t>, </a:t>
            </a:r>
            <a:r>
              <a:rPr lang="ko-KR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</a:t>
            </a:r>
            <a:r>
              <a:rPr lang="en-US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FFC06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의도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85000" y="5784850"/>
            <a:ext cx="2641600" cy="533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799" b="1" i="0" u="none" strike="noStrike" dirty="0">
                <a:solidFill>
                  <a:srgbClr val="AFD4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799" b="1" i="0" u="none" strike="noStrike" dirty="0">
                <a:solidFill>
                  <a:srgbClr val="AFD485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AFD48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439900" y="7543800"/>
            <a:ext cx="3784600" cy="9398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</a:p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구체적인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내역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31500" y="5778500"/>
            <a:ext cx="3098800" cy="4953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799" b="1" i="0" u="none" strike="noStrike" dirty="0">
                <a:solidFill>
                  <a:srgbClr val="7AC7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r>
              <a:rPr lang="en-US" sz="2799" b="1" i="0" u="none" strike="noStrike" dirty="0">
                <a:solidFill>
                  <a:srgbClr val="7AC7EB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7AC7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</a:t>
            </a:r>
            <a:r>
              <a:rPr lang="en-US" sz="2799" b="1" i="0" u="none" strike="noStrike" dirty="0">
                <a:solidFill>
                  <a:srgbClr val="7AC7EB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7AC7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2799" b="1" i="0" u="none" strike="noStrike" dirty="0">
                <a:solidFill>
                  <a:srgbClr val="7AC7EB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7AC7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86500" y="7518400"/>
            <a:ext cx="3784600" cy="13716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산출물의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 </a:t>
            </a:r>
          </a:p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효용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 /</a:t>
            </a:r>
          </a:p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실무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활용성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248400" y="7505700"/>
            <a:ext cx="4076700" cy="9398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컨셉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</a:t>
            </a:r>
          </a:p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훈련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내용과의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연관성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12400" y="7734300"/>
            <a:ext cx="4076700" cy="4953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개발환경</a:t>
            </a:r>
            <a:r>
              <a:rPr lang="en-US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6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13700" y="5321300"/>
            <a:ext cx="203200" cy="2032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9665950" y="5791459"/>
            <a:ext cx="2298700" cy="9906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16199"/>
              </a:lnSpc>
            </a:pPr>
            <a:r>
              <a:rPr lang="ko-KR" sz="2799" b="1" i="0" u="none" strike="noStrike" dirty="0">
                <a:solidFill>
                  <a:srgbClr val="9FA9D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활용방안</a:t>
            </a:r>
            <a:r>
              <a:rPr lang="en-US" sz="2799" b="1" i="0" u="none" strike="noStrike" dirty="0">
                <a:solidFill>
                  <a:srgbClr val="9FA9D8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9FA9D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</a:p>
          <a:p>
            <a:pPr lvl="0" algn="ctr">
              <a:lnSpc>
                <a:spcPct val="116199"/>
              </a:lnSpc>
            </a:pPr>
            <a:r>
              <a:rPr lang="ko-KR" sz="2799" b="1" i="0" u="none" strike="noStrike" dirty="0">
                <a:solidFill>
                  <a:srgbClr val="9FA9D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기대</a:t>
            </a:r>
            <a:r>
              <a:rPr lang="en-US" sz="2799" b="1" i="0" u="none" strike="noStrike" dirty="0">
                <a:solidFill>
                  <a:srgbClr val="9FA9D8"/>
                </a:solidFill>
                <a:latin typeface="맑은 고딕" panose="020B0503020000020004" pitchFamily="50" charset="-127"/>
              </a:rPr>
              <a:t> </a:t>
            </a:r>
            <a:r>
              <a:rPr lang="ko-KR" sz="2799" b="1" i="0" u="none" strike="noStrike" dirty="0">
                <a:solidFill>
                  <a:srgbClr val="9FA9D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0706100" y="-5715000"/>
            <a:ext cx="20815300" cy="20815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58000"/>
            <a:ext cx="24384000" cy="6858000"/>
          </a:xfrm>
          <a:prstGeom prst="rect">
            <a:avLst/>
          </a:prstGeom>
          <a:effectLst>
            <a:outerShdw blurRad="2366010" dir="11100000">
              <a:srgbClr val="B8E9FF">
                <a:alpha val="3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200" y="5105400"/>
            <a:ext cx="3302000" cy="330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5092700"/>
            <a:ext cx="3302000" cy="3302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8600" y="5080000"/>
            <a:ext cx="3302000" cy="3302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03800" y="5092700"/>
            <a:ext cx="3302000" cy="330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5200" y="10337800"/>
            <a:ext cx="33020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3400" y="10337800"/>
            <a:ext cx="3302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42900" y="10337800"/>
            <a:ext cx="3302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91100" y="10337800"/>
            <a:ext cx="3302000" cy="254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381500" y="8788400"/>
            <a:ext cx="12573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 dirty="0">
                <a:solidFill>
                  <a:srgbClr val="C2C2C2"/>
                </a:solidFill>
                <a:latin typeface="맑은 고딕" panose="020B0503020000020004" pitchFamily="50" charset="-127"/>
              </a:rPr>
              <a:t>CEO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9000" y="9309100"/>
            <a:ext cx="3213100" cy="8509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ctr">
              <a:lnSpc>
                <a:spcPct val="99600"/>
              </a:lnSpc>
            </a:pPr>
            <a:r>
              <a:rPr lang="ko-KR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김</a:t>
            </a:r>
            <a:r>
              <a:rPr lang="en-US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93200" y="8788400"/>
            <a:ext cx="14224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 dirty="0">
                <a:solidFill>
                  <a:srgbClr val="C2C2C2"/>
                </a:solidFill>
                <a:latin typeface="맑은 고딕" panose="020B0503020000020004" pitchFamily="50" charset="-127"/>
              </a:rPr>
              <a:t>Engineer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04200" y="9296400"/>
            <a:ext cx="3213100" cy="8509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ctr">
              <a:lnSpc>
                <a:spcPct val="99600"/>
              </a:lnSpc>
            </a:pPr>
            <a:r>
              <a:rPr lang="ko-KR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</a:t>
            </a:r>
            <a:r>
              <a:rPr lang="en-US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741400" y="8788400"/>
            <a:ext cx="16891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 dirty="0">
                <a:solidFill>
                  <a:srgbClr val="C2C2C2"/>
                </a:solidFill>
                <a:latin typeface="맑은 고딕" panose="020B0503020000020004" pitchFamily="50" charset="-127"/>
              </a:rPr>
              <a:t>Developer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79400" y="9296400"/>
            <a:ext cx="3213100" cy="8509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ctr">
              <a:lnSpc>
                <a:spcPct val="99600"/>
              </a:lnSpc>
            </a:pPr>
            <a:r>
              <a:rPr lang="ko-KR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</a:t>
            </a:r>
            <a:r>
              <a:rPr lang="en-US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554700" y="8788400"/>
            <a:ext cx="1600200" cy="381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" sz="2133" b="0" i="0" u="none" strike="noStrike" dirty="0">
                <a:solidFill>
                  <a:srgbClr val="C2C2C2"/>
                </a:solidFill>
                <a:latin typeface="맑은 고딕" panose="020B0503020000020004" pitchFamily="50" charset="-127"/>
              </a:rPr>
              <a:t>Marketer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754600" y="9309100"/>
            <a:ext cx="3213100" cy="850900"/>
          </a:xfrm>
          <a:prstGeom prst="rect">
            <a:avLst/>
          </a:prstGeom>
        </p:spPr>
        <p:txBody>
          <a:bodyPr lIns="0" tIns="54187" rIns="0" bIns="54187" rtlCol="0" anchor="ctr"/>
          <a:lstStyle/>
          <a:p>
            <a:pPr lvl="0" algn="ctr">
              <a:lnSpc>
                <a:spcPct val="99600"/>
              </a:lnSpc>
            </a:pPr>
            <a:r>
              <a:rPr lang="ko-KR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</a:t>
            </a:r>
            <a:r>
              <a:rPr lang="en-US" sz="4266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OO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27400" y="10934700"/>
            <a:ext cx="3479800" cy="1282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15300" y="10934700"/>
            <a:ext cx="3479800" cy="1282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90500" y="10934700"/>
            <a:ext cx="3479800" cy="1282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65700" y="10934700"/>
            <a:ext cx="3467100" cy="1282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400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238500" y="1485900"/>
            <a:ext cx="17945100" cy="1358900"/>
          </a:xfrm>
          <a:prstGeom prst="rect">
            <a:avLst/>
          </a:prstGeom>
        </p:spPr>
        <p:txBody>
          <a:bodyPr lIns="0" tIns="45720" rIns="0" bIns="45720" rtlCol="0" anchor="ctr"/>
          <a:lstStyle/>
          <a:p>
            <a:pPr lvl="0" algn="ctr">
              <a:lnSpc>
                <a:spcPct val="107899"/>
              </a:lnSpc>
            </a:pPr>
            <a:r>
              <a:rPr lang="ko-KR" sz="72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</a:t>
            </a:r>
            <a:r>
              <a:rPr lang="en-US" sz="72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72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03400" y="3251200"/>
            <a:ext cx="208153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프로젝트를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진행하면서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훈련생별로</a:t>
            </a:r>
            <a:r>
              <a:rPr lang="en-US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주도적으로</a:t>
            </a:r>
            <a:r>
              <a:rPr lang="en-US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참여한</a:t>
            </a:r>
            <a:r>
              <a:rPr lang="en-US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부분을</a:t>
            </a:r>
            <a:r>
              <a:rPr lang="en-US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E6C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중심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작성합니다</a:t>
            </a:r>
            <a:r>
              <a:rPr lang="en-US" sz="40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6300" y="749300"/>
            <a:ext cx="58039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02.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92" y="4495800"/>
            <a:ext cx="22614216" cy="7162800"/>
          </a:xfrm>
          <a:prstGeom prst="rect">
            <a:avLst/>
          </a:prstGeom>
          <a:effectLst>
            <a:outerShdw blurRad="1059307" dir="2700000">
              <a:srgbClr val="B8E9FF">
                <a:alpha val="20000"/>
              </a:srgbClr>
            </a:outerShdw>
          </a:effectLst>
        </p:spPr>
      </p:pic>
      <p:sp>
        <p:nvSpPr>
          <p:cNvPr id="25" name="TextBox 25"/>
          <p:cNvSpPr txBox="1"/>
          <p:nvPr/>
        </p:nvSpPr>
        <p:spPr>
          <a:xfrm>
            <a:off x="876300" y="749300"/>
            <a:ext cx="62103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03.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3600" y="1727200"/>
            <a:ext cx="20777200" cy="18034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프로젝트의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사전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기획과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완료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과정으로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나누어서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작성해주세요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-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절차를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 err="1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도식화하여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제시하거나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,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효과적으로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전달하는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등이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있다면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수정하여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작성이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가능합니다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alt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-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단계에서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도출된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주제와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아이디어를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기반으로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프로젝트를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수행한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세부적인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기간과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활동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내용을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작성해주세요</a:t>
            </a:r>
            <a:r>
              <a:rPr lang="en-US" sz="2936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.</a:t>
            </a:r>
          </a:p>
        </p:txBody>
      </p:sp>
      <p:pic>
        <p:nvPicPr>
          <p:cNvPr id="31" name="Picture 10">
            <a:extLst>
              <a:ext uri="{FF2B5EF4-FFF2-40B4-BE49-F238E27FC236}">
                <a16:creationId xmlns:a16="http://schemas.microsoft.com/office/drawing/2014/main" id="{52811ED6-A2FB-D7D9-9CBC-9440C42433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0800000">
            <a:off x="2108200" y="5562600"/>
            <a:ext cx="10109200" cy="50800"/>
          </a:xfrm>
          <a:prstGeom prst="rect">
            <a:avLst/>
          </a:prstGeom>
        </p:spPr>
      </p:pic>
      <p:pic>
        <p:nvPicPr>
          <p:cNvPr id="32" name="Picture 10">
            <a:extLst>
              <a:ext uri="{FF2B5EF4-FFF2-40B4-BE49-F238E27FC236}">
                <a16:creationId xmlns:a16="http://schemas.microsoft.com/office/drawing/2014/main" id="{576A23EA-C805-E395-2F81-7566F03111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0800000">
            <a:off x="12217400" y="5562601"/>
            <a:ext cx="10109200" cy="50800"/>
          </a:xfrm>
          <a:prstGeom prst="rect">
            <a:avLst/>
          </a:prstGeom>
        </p:spPr>
      </p:pic>
      <p:pic>
        <p:nvPicPr>
          <p:cNvPr id="33" name="Picture 11">
            <a:extLst>
              <a:ext uri="{FF2B5EF4-FFF2-40B4-BE49-F238E27FC236}">
                <a16:creationId xmlns:a16="http://schemas.microsoft.com/office/drawing/2014/main" id="{D50BB775-D34E-E934-B063-4B7188642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5461000"/>
            <a:ext cx="203200" cy="203200"/>
          </a:xfrm>
          <a:prstGeom prst="rect">
            <a:avLst/>
          </a:prstGeom>
        </p:spPr>
      </p:pic>
      <p:sp>
        <p:nvSpPr>
          <p:cNvPr id="34" name="TextBox 21">
            <a:extLst>
              <a:ext uri="{FF2B5EF4-FFF2-40B4-BE49-F238E27FC236}">
                <a16:creationId xmlns:a16="http://schemas.microsoft.com/office/drawing/2014/main" id="{1016B148-5D52-A229-C940-EA5692B609DA}"/>
              </a:ext>
            </a:extLst>
          </p:cNvPr>
          <p:cNvSpPr txBox="1"/>
          <p:nvPr/>
        </p:nvSpPr>
        <p:spPr>
          <a:xfrm>
            <a:off x="2336800" y="5715001"/>
            <a:ext cx="1473200" cy="4318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666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사전 기획</a:t>
            </a:r>
            <a:endParaRPr lang="en-US" altLang="ko-KR" sz="2666" b="1" i="0" u="none" strike="noStrik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4F2625-5498-59C7-E3B6-F3B0927230EB}"/>
              </a:ext>
            </a:extLst>
          </p:cNvPr>
          <p:cNvSpPr txBox="1"/>
          <p:nvPr/>
        </p:nvSpPr>
        <p:spPr>
          <a:xfrm>
            <a:off x="952466" y="6677207"/>
            <a:ext cx="42418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기간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: 0/0 ~ 0/0</a:t>
            </a:r>
          </a:p>
          <a:p>
            <a:pPr algn="ctr"/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프로젝트 기획 및 주제 선정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기획안 작성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</p:txBody>
      </p:sp>
      <p:pic>
        <p:nvPicPr>
          <p:cNvPr id="40" name="Picture 11">
            <a:extLst>
              <a:ext uri="{FF2B5EF4-FFF2-40B4-BE49-F238E27FC236}">
                <a16:creationId xmlns:a16="http://schemas.microsoft.com/office/drawing/2014/main" id="{12B13483-1D49-8272-7324-254D13B64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718" y="5461000"/>
            <a:ext cx="203200" cy="203200"/>
          </a:xfrm>
          <a:prstGeom prst="rect">
            <a:avLst/>
          </a:prstGeom>
        </p:spPr>
      </p:pic>
      <p:sp>
        <p:nvSpPr>
          <p:cNvPr id="41" name="TextBox 21">
            <a:extLst>
              <a:ext uri="{FF2B5EF4-FFF2-40B4-BE49-F238E27FC236}">
                <a16:creationId xmlns:a16="http://schemas.microsoft.com/office/drawing/2014/main" id="{8C003D84-76D9-F4FE-97D9-EF34F9B17A19}"/>
              </a:ext>
            </a:extLst>
          </p:cNvPr>
          <p:cNvSpPr txBox="1"/>
          <p:nvPr/>
        </p:nvSpPr>
        <p:spPr>
          <a:xfrm>
            <a:off x="6776518" y="5727701"/>
            <a:ext cx="1910282" cy="4318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666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수집</a:t>
            </a:r>
            <a:endParaRPr lang="en-US" altLang="ko-KR" sz="2666" b="1" i="0" u="none" strike="noStrik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C7B09E-2FB3-CBC5-7877-C0512BA10DF3}"/>
              </a:ext>
            </a:extLst>
          </p:cNvPr>
          <p:cNvSpPr txBox="1"/>
          <p:nvPr/>
        </p:nvSpPr>
        <p:spPr>
          <a:xfrm>
            <a:off x="5194333" y="6677207"/>
            <a:ext cx="46586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기간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: 0/0 ~ 0/0</a:t>
            </a:r>
          </a:p>
          <a:p>
            <a:pPr algn="ctr"/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필요 데이터 및 수집 절차 정의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외부 데이터 수집</a:t>
            </a:r>
          </a:p>
        </p:txBody>
      </p:sp>
      <p:pic>
        <p:nvPicPr>
          <p:cNvPr id="43" name="Picture 11">
            <a:extLst>
              <a:ext uri="{FF2B5EF4-FFF2-40B4-BE49-F238E27FC236}">
                <a16:creationId xmlns:a16="http://schemas.microsoft.com/office/drawing/2014/main" id="{B64CB7DC-80ED-8887-39DD-0DBF36B2C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39630" y="5540108"/>
            <a:ext cx="203200" cy="203200"/>
          </a:xfrm>
          <a:prstGeom prst="rect">
            <a:avLst/>
          </a:prstGeom>
        </p:spPr>
      </p:pic>
      <p:sp>
        <p:nvSpPr>
          <p:cNvPr id="44" name="TextBox 21">
            <a:extLst>
              <a:ext uri="{FF2B5EF4-FFF2-40B4-BE49-F238E27FC236}">
                <a16:creationId xmlns:a16="http://schemas.microsoft.com/office/drawing/2014/main" id="{D956944D-1FF4-5F47-BE0F-7742C6C614C7}"/>
              </a:ext>
            </a:extLst>
          </p:cNvPr>
          <p:cNvSpPr txBox="1"/>
          <p:nvPr/>
        </p:nvSpPr>
        <p:spPr>
          <a:xfrm>
            <a:off x="11016458" y="5749842"/>
            <a:ext cx="2401884" cy="4318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666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r>
              <a:rPr lang="ko-KR" altLang="en-US" sz="2666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endParaRPr lang="en-US" altLang="ko-KR" sz="2666" b="1" i="0" u="none" strike="noStrik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8D012C-315A-DA0C-66CB-CDCCD3D7506D}"/>
              </a:ext>
            </a:extLst>
          </p:cNvPr>
          <p:cNvSpPr txBox="1"/>
          <p:nvPr/>
        </p:nvSpPr>
        <p:spPr>
          <a:xfrm>
            <a:off x="10458745" y="6673944"/>
            <a:ext cx="35173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기간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: 0/0 ~ 0/0</a:t>
            </a:r>
          </a:p>
          <a:p>
            <a:pPr algn="ctr"/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데이터 정제 및 정규화</a:t>
            </a:r>
          </a:p>
        </p:txBody>
      </p:sp>
      <p:pic>
        <p:nvPicPr>
          <p:cNvPr id="46" name="Picture 11">
            <a:extLst>
              <a:ext uri="{FF2B5EF4-FFF2-40B4-BE49-F238E27FC236}">
                <a16:creationId xmlns:a16="http://schemas.microsoft.com/office/drawing/2014/main" id="{42DB7120-77A9-7936-3289-BB24142F5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0365" y="5461000"/>
            <a:ext cx="203200" cy="203200"/>
          </a:xfrm>
          <a:prstGeom prst="rect">
            <a:avLst/>
          </a:prstGeom>
        </p:spPr>
      </p:pic>
      <p:sp>
        <p:nvSpPr>
          <p:cNvPr id="47" name="TextBox 21">
            <a:extLst>
              <a:ext uri="{FF2B5EF4-FFF2-40B4-BE49-F238E27FC236}">
                <a16:creationId xmlns:a16="http://schemas.microsoft.com/office/drawing/2014/main" id="{D464CEC1-2AE2-B5EA-7D99-ABF9AE7AE510}"/>
              </a:ext>
            </a:extLst>
          </p:cNvPr>
          <p:cNvSpPr txBox="1"/>
          <p:nvPr/>
        </p:nvSpPr>
        <p:spPr>
          <a:xfrm>
            <a:off x="15517861" y="5727701"/>
            <a:ext cx="2068208" cy="4191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2666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구축</a:t>
            </a:r>
            <a:endParaRPr lang="en-US" altLang="ko-KR" sz="2666" b="1" i="0" u="none" strike="noStrik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32A0F1-8847-B8B7-FCCF-597B5A06D53A}"/>
              </a:ext>
            </a:extLst>
          </p:cNvPr>
          <p:cNvSpPr txBox="1"/>
          <p:nvPr/>
        </p:nvSpPr>
        <p:spPr>
          <a:xfrm>
            <a:off x="14609613" y="6673851"/>
            <a:ext cx="41328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기간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: 0/0 ~ 0/0</a:t>
            </a:r>
          </a:p>
          <a:p>
            <a:pPr algn="ctr"/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모바일 서비스 시스템 설계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모바일 플랫폼 구현</a:t>
            </a:r>
          </a:p>
        </p:txBody>
      </p:sp>
      <p:pic>
        <p:nvPicPr>
          <p:cNvPr id="49" name="Picture 11">
            <a:extLst>
              <a:ext uri="{FF2B5EF4-FFF2-40B4-BE49-F238E27FC236}">
                <a16:creationId xmlns:a16="http://schemas.microsoft.com/office/drawing/2014/main" id="{921FE2B2-9035-E3E9-2C1F-A2D0C1AA1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9991" y="5461000"/>
            <a:ext cx="203200" cy="203200"/>
          </a:xfrm>
          <a:prstGeom prst="rect">
            <a:avLst/>
          </a:prstGeom>
        </p:spPr>
      </p:pic>
      <p:sp>
        <p:nvSpPr>
          <p:cNvPr id="50" name="TextBox 21">
            <a:extLst>
              <a:ext uri="{FF2B5EF4-FFF2-40B4-BE49-F238E27FC236}">
                <a16:creationId xmlns:a16="http://schemas.microsoft.com/office/drawing/2014/main" id="{5733CD0A-FF6C-12A4-2524-3F803E262595}"/>
              </a:ext>
            </a:extLst>
          </p:cNvPr>
          <p:cNvSpPr txBox="1"/>
          <p:nvPr/>
        </p:nvSpPr>
        <p:spPr>
          <a:xfrm>
            <a:off x="19941538" y="5727701"/>
            <a:ext cx="2068208" cy="419100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2666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MVP</a:t>
            </a:r>
            <a:r>
              <a:rPr lang="ko-KR" altLang="en-US" sz="2666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 완성</a:t>
            </a:r>
            <a:endParaRPr lang="en-US" altLang="ko-KR" sz="2666" b="1" i="0" u="none" strike="noStrik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C076EF-66C3-5CDE-8074-EA6F899F28AA}"/>
              </a:ext>
            </a:extLst>
          </p:cNvPr>
          <p:cNvSpPr txBox="1"/>
          <p:nvPr/>
        </p:nvSpPr>
        <p:spPr>
          <a:xfrm>
            <a:off x="19749942" y="6680203"/>
            <a:ext cx="24432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기간 </a:t>
            </a:r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: 0/0 ~ 0/0</a:t>
            </a:r>
          </a:p>
          <a:p>
            <a:pPr algn="ctr"/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  <a:cs typeface="Pretendard Regular" panose="02000503000000020004" pitchFamily="2" charset="-127"/>
            </a:endParaRPr>
          </a:p>
          <a:p>
            <a:pPr algn="ctr"/>
            <a:r>
              <a:rPr lang="en-US" altLang="ko-KR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- MVP </a:t>
            </a:r>
            <a:r>
              <a:rPr lang="ko-KR" altLang="en-US" sz="2400" dirty="0">
                <a:latin typeface="맑은 고딕" panose="020B0503020000020004" pitchFamily="50" charset="-127"/>
                <a:ea typeface="맑은 고딕" panose="020B0503020000020004" pitchFamily="50" charset="-127"/>
                <a:cs typeface="Pretendard Regular" panose="02000503000000020004" pitchFamily="2" charset="-127"/>
              </a:rPr>
              <a:t>고도화</a:t>
            </a:r>
          </a:p>
        </p:txBody>
      </p:sp>
      <p:sp>
        <p:nvSpPr>
          <p:cNvPr id="53" name="TextBox 21">
            <a:extLst>
              <a:ext uri="{FF2B5EF4-FFF2-40B4-BE49-F238E27FC236}">
                <a16:creationId xmlns:a16="http://schemas.microsoft.com/office/drawing/2014/main" id="{E2598197-275E-8480-6E13-64F1EDEDF90A}"/>
              </a:ext>
            </a:extLst>
          </p:cNvPr>
          <p:cNvSpPr txBox="1"/>
          <p:nvPr/>
        </p:nvSpPr>
        <p:spPr>
          <a:xfrm>
            <a:off x="9395732" y="9982200"/>
            <a:ext cx="5592536" cy="946319"/>
          </a:xfrm>
          <a:prstGeom prst="rect">
            <a:avLst/>
          </a:prstGeom>
        </p:spPr>
        <p:txBody>
          <a:bodyPr lIns="0" tIns="16934" rIns="0" bIns="16934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320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총 개발 기간</a:t>
            </a:r>
            <a:endParaRPr lang="en-US" altLang="ko-KR" sz="32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  <a:p>
            <a:pPr lvl="0" algn="ctr">
              <a:lnSpc>
                <a:spcPct val="107899"/>
              </a:lnSpc>
            </a:pPr>
            <a:r>
              <a:rPr lang="en-US" altLang="ko-KR" sz="2666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2" charset="-127"/>
              </a:rPr>
              <a:t>2025. 11. 20 ~ 2026. 00. 00</a:t>
            </a:r>
            <a:endParaRPr lang="en-US" altLang="ko-KR" sz="2666" b="0" i="0" u="none" strike="noStrik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76300" y="749300"/>
            <a:ext cx="54737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04.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3600" y="1727200"/>
            <a:ext cx="22529800" cy="1308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270" i="0" u="none" strike="noStrike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4270" i="0" u="none" strike="noStrike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i="0" u="none" strike="noStrike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결과물이</a:t>
            </a:r>
            <a:r>
              <a:rPr lang="en-US" sz="4270" i="0" u="none" strike="noStrike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i="0" u="none" strike="noStrike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도출된</a:t>
            </a:r>
            <a:r>
              <a:rPr lang="en-US" sz="4270" i="0" u="none" strike="noStrike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i="0" u="none" strike="noStrike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과정을</a:t>
            </a:r>
            <a:r>
              <a:rPr lang="en-US" sz="4270" i="0" u="none" strike="noStrike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i="0" u="none" strike="noStrike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세부적으로</a:t>
            </a:r>
            <a:r>
              <a:rPr lang="en-US" sz="4270" i="0" u="none" strike="noStrike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i="0" u="none" strike="noStrike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작성합니다</a:t>
            </a:r>
            <a:r>
              <a:rPr lang="en-US" sz="4270" i="0" u="none" strike="noStrike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-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이어지는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예시는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사례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제공을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위해서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간단하게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제공한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것이므로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,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성격에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따라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보다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자세하게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069" i="0" u="none" strike="noStrike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작성해주세요</a:t>
            </a:r>
            <a:r>
              <a:rPr lang="en-US" sz="3069" i="0" u="none" strike="noStrike">
                <a:solidFill>
                  <a:srgbClr val="787878"/>
                </a:solidFill>
                <a:latin typeface="맑은 고딕" panose="020B0503020000020004" pitchFamily="50" charset="-127"/>
              </a:rPr>
              <a:t>.</a:t>
            </a:r>
            <a:endParaRPr lang="en-US" sz="3069" i="0" u="none" strike="noStrike" dirty="0">
              <a:solidFill>
                <a:srgbClr val="787878"/>
              </a:solidFill>
              <a:latin typeface="맑은 고딕" panose="020B0503020000020004" pitchFamily="50" charset="-127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00" y="3695700"/>
            <a:ext cx="8369300" cy="4165600"/>
          </a:xfrm>
          <a:prstGeom prst="rect">
            <a:avLst/>
          </a:prstGeom>
          <a:effectLst>
            <a:outerShdw blurRad="792547" dir="2700000">
              <a:srgbClr val="B8E9FF">
                <a:alpha val="20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3695700"/>
            <a:ext cx="8369300" cy="4165600"/>
          </a:xfrm>
          <a:prstGeom prst="rect">
            <a:avLst/>
          </a:prstGeom>
          <a:effectLst>
            <a:outerShdw blurRad="792547" dir="2700000">
              <a:srgbClr val="FEEFC5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200" y="8216900"/>
            <a:ext cx="8369300" cy="4165600"/>
          </a:xfrm>
          <a:prstGeom prst="rect">
            <a:avLst/>
          </a:prstGeom>
          <a:effectLst>
            <a:outerShdw blurRad="792547" dir="2700000">
              <a:srgbClr val="B8E9FF">
                <a:alpha val="20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0" y="8216900"/>
            <a:ext cx="8369300" cy="4165600"/>
          </a:xfrm>
          <a:prstGeom prst="rect">
            <a:avLst/>
          </a:prstGeom>
          <a:effectLst>
            <a:outerShdw blurRad="792547" dir="2700000">
              <a:srgbClr val="FECCBE">
                <a:alpha val="20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368800" y="4419600"/>
            <a:ext cx="2794000" cy="2794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3017500" y="8890000"/>
            <a:ext cx="2794000" cy="279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alphaModFix amt="50000"/>
          </a:blip>
          <a:stretch>
            <a:fillRect/>
          </a:stretch>
        </p:blipFill>
        <p:spPr>
          <a:xfrm>
            <a:off x="13017500" y="4419600"/>
            <a:ext cx="2794000" cy="279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4368800" y="8890000"/>
            <a:ext cx="2794000" cy="2794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658100" y="4521200"/>
            <a:ext cx="3924300" cy="6350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l">
              <a:lnSpc>
                <a:spcPct val="99600"/>
              </a:lnSpc>
            </a:pPr>
            <a:r>
              <a:rPr lang="en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58100" y="9931400"/>
            <a:ext cx="3924300" cy="1752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과정에서의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내용과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그것을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(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)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내용이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포함되도록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56000" y="4521200"/>
            <a:ext cx="3924300" cy="6350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l">
              <a:lnSpc>
                <a:spcPct val="99600"/>
              </a:lnSpc>
            </a:pPr>
            <a:r>
              <a:rPr lang="en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256000" y="9055100"/>
            <a:ext cx="3924300" cy="6350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l">
              <a:lnSpc>
                <a:spcPct val="99600"/>
              </a:lnSpc>
            </a:pPr>
            <a:r>
              <a:rPr lang="en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58100" y="9055100"/>
            <a:ext cx="3937000" cy="635000"/>
          </a:xfrm>
          <a:prstGeom prst="rect">
            <a:avLst/>
          </a:prstGeom>
        </p:spPr>
        <p:txBody>
          <a:bodyPr lIns="0" tIns="40640" rIns="0" bIns="40640" rtlCol="0" anchor="ctr"/>
          <a:lstStyle/>
          <a:p>
            <a:pPr lvl="0" algn="l">
              <a:lnSpc>
                <a:spcPct val="99600"/>
              </a:lnSpc>
            </a:pPr>
            <a:r>
              <a:rPr lang="en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58100" y="5397500"/>
            <a:ext cx="3924300" cy="19939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결과를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서술하는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과정에서는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활용된</a:t>
            </a:r>
            <a:r>
              <a:rPr lang="en-US" alt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방법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,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,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 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등을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상세히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192500" y="5219700"/>
            <a:ext cx="4495800" cy="2349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과정이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드러날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</a:p>
          <a:p>
            <a:pPr lvl="0" algn="l">
              <a:lnSpc>
                <a:spcPct val="116199"/>
              </a:lnSpc>
            </a:pP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있도록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가공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과정부터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활용까지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전체적인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프로세스를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단계별로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256000" y="9931400"/>
            <a:ext cx="3924300" cy="17526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결과물을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잘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드러낼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있는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자료를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첨부하여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</a:p>
          <a:p>
            <a:pPr lvl="0" algn="l">
              <a:lnSpc>
                <a:spcPct val="116199"/>
              </a:lnSpc>
            </a:pP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ex)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,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</a:t>
            </a:r>
            <a:r>
              <a:rPr lang="en-US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</a:rPr>
              <a:t> </a:t>
            </a:r>
            <a:r>
              <a:rPr lang="ko-KR" sz="2133" b="0" i="0" u="none" strike="noStrike" dirty="0">
                <a:solidFill>
                  <a:srgbClr val="595959">
                    <a:alpha val="70196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82681" y="2959100"/>
            <a:ext cx="8521700" cy="17780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LG CNS KORQUAD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형식</a:t>
            </a:r>
          </a:p>
          <a:p>
            <a:pPr lvl="0" algn="l">
              <a:lnSpc>
                <a:spcPct val="1244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Context : 10,645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 lvl="0" algn="l">
              <a:lnSpc>
                <a:spcPct val="1244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QA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쌍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: 66,181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749300"/>
            <a:ext cx="58293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04.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3600" y="1727200"/>
            <a:ext cx="91948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</a:t>
            </a:r>
            <a:r>
              <a:rPr lang="en-US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  <a:r>
              <a:rPr lang="en-US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(Train / dev set)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15600" y="2870200"/>
            <a:ext cx="12649200" cy="2387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Tokenizing : Okt</a:t>
            </a:r>
          </a:p>
          <a:p>
            <a:pPr lvl="0" algn="l">
              <a:lnSpc>
                <a:spcPct val="1244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Regular Expression :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불용어가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많아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한글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숫자만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추출</a:t>
            </a:r>
          </a:p>
          <a:p>
            <a:pPr lvl="0" algn="l">
              <a:lnSpc>
                <a:spcPct val="124499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Embedding :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임베딩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(Glove) -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문맥상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이해</a:t>
            </a:r>
          </a:p>
          <a:p>
            <a:pPr lvl="0" algn="l">
              <a:lnSpc>
                <a:spcPct val="124499"/>
              </a:lnSpc>
            </a:pPr>
            <a:r>
              <a:rPr lang="en" sz="32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Vocalbulary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31" y="6839864"/>
            <a:ext cx="8834917" cy="419436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9897FA1-EEB3-6E6A-F21B-03AB8EA68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3033" y="6123548"/>
            <a:ext cx="3292461" cy="373145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55C227-DDCC-B3B9-4CC2-C334CD016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3033" y="10060349"/>
            <a:ext cx="5243467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8213D13-4203-9030-66BE-11EF897642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38567" y="5893974"/>
            <a:ext cx="3377458" cy="373145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3B0B00C-7297-BC48-E137-85538D3DC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38567" y="10060349"/>
            <a:ext cx="4641010" cy="348887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22B952A-A1DC-4916-B4C3-439B2B38975C}"/>
              </a:ext>
            </a:extLst>
          </p:cNvPr>
          <p:cNvCxnSpPr/>
          <p:nvPr/>
        </p:nvCxnSpPr>
        <p:spPr>
          <a:xfrm>
            <a:off x="9906000" y="3022600"/>
            <a:ext cx="0" cy="10123849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759667" y="2717800"/>
            <a:ext cx="21628100" cy="6604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피드백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루프를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순환하면서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주어진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입력에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관한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신경망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출력을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방지하기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위해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고안된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순환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신경망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(RNN : Recurrent Neural Network)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6300" y="749300"/>
            <a:ext cx="58293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04.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3600" y="1727200"/>
            <a:ext cx="188087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LSTM(Long short-term memory)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400" y="5511800"/>
            <a:ext cx="5486400" cy="548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800" y="7404100"/>
            <a:ext cx="27178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1900" y="7353300"/>
            <a:ext cx="139700" cy="139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008600" y="6908800"/>
            <a:ext cx="5105400" cy="1028700"/>
          </a:xfrm>
          <a:prstGeom prst="rect">
            <a:avLst/>
          </a:prstGeom>
        </p:spPr>
        <p:txBody>
          <a:bodyPr lIns="0" tIns="37253" rIns="0" bIns="37253" rtlCol="0" anchor="ctr"/>
          <a:lstStyle/>
          <a:p>
            <a:pPr lvl="0" algn="l">
              <a:lnSpc>
                <a:spcPct val="99600"/>
              </a:lnSpc>
            </a:pP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문단과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질의간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유사도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</a:t>
            </a:r>
          </a:p>
          <a:p>
            <a:pPr lvl="0" algn="l">
              <a:lnSpc>
                <a:spcPct val="99600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300" y="6540500"/>
            <a:ext cx="26924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300" y="6489700"/>
            <a:ext cx="139700" cy="1397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635500" y="6121400"/>
            <a:ext cx="2882900" cy="965200"/>
          </a:xfrm>
          <a:prstGeom prst="rect">
            <a:avLst/>
          </a:prstGeom>
        </p:spPr>
        <p:txBody>
          <a:bodyPr lIns="0" tIns="37253" rIns="0" bIns="37253" rtlCol="0" anchor="ctr"/>
          <a:lstStyle/>
          <a:p>
            <a:pPr lvl="0" algn="l">
              <a:lnSpc>
                <a:spcPct val="99600"/>
              </a:lnSpc>
            </a:pP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유사도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</a:t>
            </a:r>
          </a:p>
          <a:p>
            <a:pPr lvl="0" algn="l">
              <a:lnSpc>
                <a:spcPct val="99600"/>
              </a:lnSpc>
            </a:pP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문단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10807700"/>
            <a:ext cx="2692400" cy="38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3200" y="10756900"/>
            <a:ext cx="139700" cy="1397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483350" y="10534650"/>
            <a:ext cx="2514600" cy="584200"/>
          </a:xfrm>
          <a:prstGeom prst="rect">
            <a:avLst/>
          </a:prstGeom>
        </p:spPr>
        <p:txBody>
          <a:bodyPr lIns="0" tIns="37253" rIns="0" bIns="37253" rtlCol="0" anchor="ctr"/>
          <a:lstStyle/>
          <a:p>
            <a:pPr lvl="0" algn="l">
              <a:lnSpc>
                <a:spcPct val="99600"/>
              </a:lnSpc>
            </a:pP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신규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  <a:r>
              <a:rPr lang="en-US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9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76300" y="749300"/>
            <a:ext cx="58293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04.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3600" y="1727200"/>
            <a:ext cx="188087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" sz="4270" b="1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LSTM(Long short-term memory)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3600" y="3859132"/>
            <a:ext cx="5689600" cy="12700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- 2 Layer LSTM : </a:t>
            </a:r>
            <a:r>
              <a:rPr lang="ko-KR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문단</a:t>
            </a:r>
            <a:r>
              <a:rPr lang="en-US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  <a:p>
            <a:pPr lvl="0" algn="l">
              <a:lnSpc>
                <a:spcPct val="132800"/>
              </a:lnSpc>
            </a:pPr>
            <a:r>
              <a:rPr lang="en-US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코사인</a:t>
            </a:r>
            <a:r>
              <a:rPr lang="en-US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유사도</a:t>
            </a:r>
            <a:r>
              <a:rPr lang="en-US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</a:t>
            </a:r>
            <a:r>
              <a:rPr lang="en-US" sz="3329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 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261" y="3079868"/>
            <a:ext cx="6648839" cy="289846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5986" y="1508964"/>
            <a:ext cx="5369120" cy="5023502"/>
          </a:xfrm>
          <a:prstGeom prst="rect">
            <a:avLst/>
          </a:prstGeom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F17A2DC9-83E6-D62C-719D-7B1B7E808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114" y="9388395"/>
            <a:ext cx="7823200" cy="3010447"/>
          </a:xfrm>
          <a:prstGeom prst="rect">
            <a:avLst/>
          </a:prstGeom>
        </p:spPr>
      </p:pic>
      <p:pic>
        <p:nvPicPr>
          <p:cNvPr id="3" name="Picture 11">
            <a:extLst>
              <a:ext uri="{FF2B5EF4-FFF2-40B4-BE49-F238E27FC236}">
                <a16:creationId xmlns:a16="http://schemas.microsoft.com/office/drawing/2014/main" id="{91F96287-8857-02F5-452D-00340649D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5036" y="7530905"/>
            <a:ext cx="7434528" cy="5690307"/>
          </a:xfrm>
          <a:prstGeom prst="rect">
            <a:avLst/>
          </a:prstGeom>
        </p:spPr>
      </p:pic>
      <p:sp>
        <p:nvSpPr>
          <p:cNvPr id="4" name="TextBox 9">
            <a:extLst>
              <a:ext uri="{FF2B5EF4-FFF2-40B4-BE49-F238E27FC236}">
                <a16:creationId xmlns:a16="http://schemas.microsoft.com/office/drawing/2014/main" id="{AB1F84CD-DE64-4A03-B0C5-022F837E7B92}"/>
              </a:ext>
            </a:extLst>
          </p:cNvPr>
          <p:cNvSpPr txBox="1"/>
          <p:nvPr/>
        </p:nvSpPr>
        <p:spPr>
          <a:xfrm>
            <a:off x="879410" y="9388395"/>
            <a:ext cx="6489700" cy="2194739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328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- 3 Layer LSTM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lvl="0" algn="l">
              <a:lnSpc>
                <a:spcPct val="1328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- </a:t>
            </a:r>
            <a:r>
              <a:rPr lang="ko-KR" sz="2800" b="0" i="0" u="none" strike="noStrike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옵티마이저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조정</a:t>
            </a:r>
          </a:p>
          <a:p>
            <a:pPr lvl="0" algn="l">
              <a:lnSpc>
                <a:spcPct val="1328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: Adam -&gt; '</a:t>
            </a:r>
            <a:r>
              <a:rPr lang="en-US" sz="2800" b="0" i="0" u="none" strike="noStrike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rmsprop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'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 </a:t>
            </a:r>
          </a:p>
          <a:p>
            <a:pPr lvl="0" algn="l">
              <a:lnSpc>
                <a:spcPct val="132800"/>
              </a:lnSpc>
            </a:pP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&gt;&gt;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학습속도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유사도</a:t>
            </a:r>
            <a:r>
              <a:rPr lang="en-US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28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688F808-D683-2A0B-D7A0-9A476660AEBF}"/>
              </a:ext>
            </a:extLst>
          </p:cNvPr>
          <p:cNvCxnSpPr/>
          <p:nvPr/>
        </p:nvCxnSpPr>
        <p:spPr>
          <a:xfrm>
            <a:off x="762000" y="7086600"/>
            <a:ext cx="23469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876300" y="749300"/>
            <a:ext cx="58293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04.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수행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경과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예시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3600" y="1727200"/>
            <a:ext cx="22682200" cy="13335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영상이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아닌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구동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여부를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시연영상으로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제작합니다</a:t>
            </a:r>
            <a:r>
              <a:rPr lang="en-US" sz="427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-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제한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: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5 ~ 10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(100MB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),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소개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음성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포함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,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형태로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제출</a:t>
            </a:r>
            <a:r>
              <a:rPr lang="en-US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</a:rPr>
              <a:t> </a:t>
            </a:r>
            <a:r>
              <a:rPr lang="ko-KR" sz="3200" b="0" i="0" u="none" strike="noStrike" dirty="0">
                <a:solidFill>
                  <a:srgbClr val="7878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700" y="3962400"/>
            <a:ext cx="14236700" cy="8750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76300" y="749300"/>
            <a:ext cx="5473700" cy="596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05.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lang="en-US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333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의견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3600" y="1727200"/>
            <a:ext cx="25120600" cy="1524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결과물에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대한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의도와의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부합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정도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실무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정도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달성도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,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완성도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</a:p>
          <a:p>
            <a:pPr lvl="0" algn="l">
              <a:lnSpc>
                <a:spcPct val="116199"/>
              </a:lnSpc>
            </a:pP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자체적인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의견과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느낀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점을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 </a:t>
            </a:r>
            <a:r>
              <a:rPr lang="ko-KR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작성해주세요</a:t>
            </a:r>
            <a:r>
              <a:rPr lang="en-US" sz="3600" b="0" i="0" u="none" strike="noStrike" dirty="0">
                <a:solidFill>
                  <a:srgbClr val="000000"/>
                </a:solidFill>
                <a:latin typeface="맑은 고딕" panose="020B0503020000020004" pitchFamily="50" charset="-127"/>
              </a:rPr>
              <a:t>.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0BC364CC-D3E5-1B41-F1D0-E5CD0A89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4102100"/>
            <a:ext cx="8369300" cy="4165600"/>
          </a:xfrm>
          <a:prstGeom prst="rect">
            <a:avLst/>
          </a:prstGeom>
          <a:effectLst>
            <a:outerShdw blurRad="792547" dir="2700000">
              <a:srgbClr val="B8E9FF">
                <a:alpha val="20000"/>
              </a:srgbClr>
            </a:outerShdw>
          </a:effectLst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0B0D6FB8-8BFA-FB24-7F4F-4CC919C50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752" y="4102100"/>
            <a:ext cx="8369300" cy="4165600"/>
          </a:xfrm>
          <a:prstGeom prst="rect">
            <a:avLst/>
          </a:prstGeom>
          <a:effectLst>
            <a:outerShdw blurRad="792547" dir="2700000">
              <a:srgbClr val="B8E9FF">
                <a:alpha val="20000"/>
              </a:srgbClr>
            </a:outerShdw>
          </a:effec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ED632C68-B982-A2FF-FCBC-D69E48DD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48" y="8610600"/>
            <a:ext cx="8369300" cy="4165600"/>
          </a:xfrm>
          <a:prstGeom prst="rect">
            <a:avLst/>
          </a:prstGeom>
          <a:effectLst>
            <a:outerShdw blurRad="792547" dir="2700000">
              <a:srgbClr val="B8E9FF">
                <a:alpha val="20000"/>
              </a:srgbClr>
            </a:outerShdw>
          </a:effec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E071AA23-C17A-BA46-B122-7E9DD24A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5752" y="8610600"/>
            <a:ext cx="8369300" cy="4165600"/>
          </a:xfrm>
          <a:prstGeom prst="rect">
            <a:avLst/>
          </a:prstGeom>
          <a:effectLst>
            <a:outerShdw blurRad="792547" dir="2700000">
              <a:srgbClr val="B8E9FF">
                <a:alpha val="20000"/>
              </a:srgbClr>
            </a:outerShdw>
          </a:effectLst>
        </p:spPr>
      </p:pic>
      <p:sp>
        <p:nvSpPr>
          <p:cNvPr id="13" name="TextBox 9">
            <a:extLst>
              <a:ext uri="{FF2B5EF4-FFF2-40B4-BE49-F238E27FC236}">
                <a16:creationId xmlns:a16="http://schemas.microsoft.com/office/drawing/2014/main" id="{5D132F5B-DCA2-0B15-A7A3-1F82083F8D60}"/>
              </a:ext>
            </a:extLst>
          </p:cNvPr>
          <p:cNvSpPr txBox="1"/>
          <p:nvPr/>
        </p:nvSpPr>
        <p:spPr>
          <a:xfrm>
            <a:off x="3613150" y="4908550"/>
            <a:ext cx="7435850" cy="25527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사전</a:t>
            </a:r>
            <a:r>
              <a:rPr 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기획의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관점에서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결과물에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대한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완성도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평가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(10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점 만점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930F4B1-FC9D-848E-418B-F81F5EF262AA}"/>
              </a:ext>
            </a:extLst>
          </p:cNvPr>
          <p:cNvSpPr txBox="1"/>
          <p:nvPr/>
        </p:nvSpPr>
        <p:spPr>
          <a:xfrm>
            <a:off x="13452477" y="4908550"/>
            <a:ext cx="7435850" cy="25527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개인</a:t>
            </a:r>
            <a:r>
              <a:rPr 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또는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우리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팀이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잘한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부분과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아쉬운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점</a:t>
            </a:r>
            <a:br>
              <a:rPr lang="en-US" altLang="ko-KR" sz="3200" dirty="0">
                <a:latin typeface="맑은 고딕" panose="020B0503020000020004" pitchFamily="50" charset="-127"/>
              </a:rPr>
            </a:br>
            <a:r>
              <a:rPr lang="ko-KR" altLang="en-US" sz="2400" dirty="0">
                <a:latin typeface="맑은 고딕" panose="020B0503020000020004" pitchFamily="50" charset="-127"/>
              </a:rPr>
              <a:t>예</a:t>
            </a:r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모델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평가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결과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정확도가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en-US" altLang="ko-KR" sz="24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00</a:t>
            </a:r>
            <a:r>
              <a:rPr lang="ko-KR" altLang="en-US" sz="2400" dirty="0">
                <a:latin typeface="맑은 고딕" panose="020B0503020000020004" pitchFamily="50" charset="-127"/>
              </a:rPr>
              <a:t>％로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정확도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향상을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위해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모델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추후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개선</a:t>
            </a:r>
            <a:r>
              <a:rPr lang="en-US" altLang="ko-KR" sz="2400" dirty="0">
                <a:latin typeface="맑은 고딕" panose="020B0503020000020004" pitchFamily="50" charset="-127"/>
              </a:rPr>
              <a:t> </a:t>
            </a:r>
            <a:r>
              <a:rPr lang="ko-KR" altLang="en-US" sz="2400" dirty="0">
                <a:latin typeface="맑은 고딕" panose="020B0503020000020004" pitchFamily="50" charset="-127"/>
              </a:rPr>
              <a:t>필요</a:t>
            </a:r>
            <a:endParaRPr lang="en-US" altLang="ko-KR" sz="2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751F020-808A-5A9D-1400-9BAA0E905FA9}"/>
              </a:ext>
            </a:extLst>
          </p:cNvPr>
          <p:cNvSpPr txBox="1"/>
          <p:nvPr/>
        </p:nvSpPr>
        <p:spPr>
          <a:xfrm>
            <a:off x="13452477" y="9417050"/>
            <a:ext cx="7435850" cy="25527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프로젝트를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수행하면서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느낀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점이나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경험한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성과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0" algn="ctr">
              <a:lnSpc>
                <a:spcPct val="132800"/>
              </a:lnSpc>
            </a:pP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경력</a:t>
            </a:r>
            <a:r>
              <a:rPr lang="ko-KR" altLang="en-US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</a:rPr>
              <a:t> 계획 등과 연관</a:t>
            </a:r>
            <a:r>
              <a:rPr lang="en-US" altLang="ko-KR" sz="32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214CDB5F-54F8-4C06-CCD5-3F657508698A}"/>
              </a:ext>
            </a:extLst>
          </p:cNvPr>
          <p:cNvSpPr txBox="1"/>
          <p:nvPr/>
        </p:nvSpPr>
        <p:spPr>
          <a:xfrm>
            <a:off x="3494118" y="9417050"/>
            <a:ext cx="7435850" cy="255270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ko-KR" altLang="en-US" sz="3200" b="0" i="0" u="none" strike="noStrik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</a:t>
            </a:r>
            <a:r>
              <a:rPr lang="en-US" altLang="ko-KR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결과물의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추후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개선점이나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보완할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점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등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내용</a:t>
            </a:r>
            <a:r>
              <a:rPr lang="en-US" altLang="ko-KR" sz="3200" dirty="0">
                <a:latin typeface="맑은 고딕" panose="020B0503020000020004" pitchFamily="50" charset="-127"/>
              </a:rPr>
              <a:t> </a:t>
            </a:r>
            <a:r>
              <a:rPr lang="ko-KR" altLang="en-US" sz="3200" dirty="0">
                <a:latin typeface="맑은 고딕" panose="020B0503020000020004" pitchFamily="50" charset="-127"/>
              </a:rPr>
              <a:t>정리</a:t>
            </a:r>
            <a:endParaRPr lang="en-US" altLang="ko-KR" sz="3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898</Words>
  <Application>Microsoft Office PowerPoint</Application>
  <PresentationFormat>사용자 지정</PresentationFormat>
  <Paragraphs>162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SIEUN</dc:creator>
  <cp:lastModifiedBy>sieun Kwon</cp:lastModifiedBy>
  <cp:revision>6</cp:revision>
  <dcterms:created xsi:type="dcterms:W3CDTF">2006-08-16T00:00:00Z</dcterms:created>
  <dcterms:modified xsi:type="dcterms:W3CDTF">2026-01-06T08:16:03Z</dcterms:modified>
</cp:coreProperties>
</file>